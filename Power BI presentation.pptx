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Playfair Display" charset="1" panose="00000000000000000000"/>
      <p:regular r:id="rId14"/>
    </p:embeddedFont>
    <p:embeddedFont>
      <p:font typeface="DG Jory" charset="1" panose="02000000000000000000"/>
      <p:regular r:id="rId15"/>
    </p:embeddedFont>
    <p:embeddedFont>
      <p:font typeface="League Spartan" charset="1" panose="00000800000000000000"/>
      <p:regular r:id="rId16"/>
    </p:embeddedFont>
    <p:embeddedFont>
      <p:font typeface="Canva Sans Bold" charset="1" panose="020B0803030501040103"/>
      <p:regular r:id="rId17"/>
    </p:embeddedFont>
    <p:embeddedFont>
      <p:font typeface="Canva Sans" charset="1" panose="020B05030305010401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607933" y="59261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680067" y="-2511057"/>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5573181" y="6261374"/>
            <a:ext cx="7141638" cy="723900"/>
          </a:xfrm>
          <a:prstGeom prst="rect">
            <a:avLst/>
          </a:prstGeom>
        </p:spPr>
        <p:txBody>
          <a:bodyPr anchor="t" rtlCol="false" tIns="0" lIns="0" bIns="0" rIns="0">
            <a:spAutoFit/>
          </a:bodyPr>
          <a:lstStyle/>
          <a:p>
            <a:pPr algn="ctr">
              <a:lnSpc>
                <a:spcPts val="5759"/>
              </a:lnSpc>
            </a:pPr>
            <a:r>
              <a:rPr lang="en-US" sz="4799">
                <a:solidFill>
                  <a:srgbClr val="000000"/>
                </a:solidFill>
                <a:latin typeface="Playfair Display"/>
                <a:ea typeface="Playfair Display"/>
                <a:cs typeface="Playfair Display"/>
                <a:sym typeface="Playfair Display"/>
              </a:rPr>
              <a:t>by Mrunali Waghdhare</a:t>
            </a:r>
          </a:p>
        </p:txBody>
      </p:sp>
      <p:sp>
        <p:nvSpPr>
          <p:cNvPr name="TextBox 7" id="7"/>
          <p:cNvSpPr txBox="true"/>
          <p:nvPr/>
        </p:nvSpPr>
        <p:spPr>
          <a:xfrm rot="0">
            <a:off x="6589181" y="1019175"/>
            <a:ext cx="5109638" cy="951405"/>
          </a:xfrm>
          <a:prstGeom prst="rect">
            <a:avLst/>
          </a:prstGeom>
        </p:spPr>
        <p:txBody>
          <a:bodyPr anchor="t" rtlCol="false" tIns="0" lIns="0" bIns="0" rIns="0">
            <a:spAutoFit/>
          </a:bodyPr>
          <a:lstStyle/>
          <a:p>
            <a:pPr algn="ctr">
              <a:lnSpc>
                <a:spcPts val="3726"/>
              </a:lnSpc>
            </a:pPr>
            <a:r>
              <a:rPr lang="en-US" sz="3105">
                <a:solidFill>
                  <a:srgbClr val="000000"/>
                </a:solidFill>
                <a:latin typeface="DG Jory"/>
                <a:ea typeface="DG Jory"/>
                <a:cs typeface="DG Jory"/>
                <a:sym typeface="DG Jory"/>
              </a:rPr>
              <a:t>Power BI Project</a:t>
            </a:r>
          </a:p>
          <a:p>
            <a:pPr algn="ctr" marL="0" indent="0" lvl="0">
              <a:lnSpc>
                <a:spcPts val="3726"/>
              </a:lnSpc>
              <a:spcBef>
                <a:spcPct val="0"/>
              </a:spcBef>
            </a:pPr>
          </a:p>
        </p:txBody>
      </p:sp>
      <p:sp>
        <p:nvSpPr>
          <p:cNvPr name="TextBox 8" id="8"/>
          <p:cNvSpPr txBox="true"/>
          <p:nvPr/>
        </p:nvSpPr>
        <p:spPr>
          <a:xfrm rot="0">
            <a:off x="2641475" y="2573367"/>
            <a:ext cx="13720544" cy="2324100"/>
          </a:xfrm>
          <a:prstGeom prst="rect">
            <a:avLst/>
          </a:prstGeom>
        </p:spPr>
        <p:txBody>
          <a:bodyPr anchor="t" rtlCol="false" tIns="0" lIns="0" bIns="0" rIns="0">
            <a:spAutoFit/>
          </a:bodyPr>
          <a:lstStyle/>
          <a:p>
            <a:pPr algn="ctr">
              <a:lnSpc>
                <a:spcPts val="9173"/>
              </a:lnSpc>
            </a:pPr>
            <a:r>
              <a:rPr lang="en-US" sz="7644">
                <a:solidFill>
                  <a:srgbClr val="000000"/>
                </a:solidFill>
                <a:latin typeface="Playfair Display"/>
                <a:ea typeface="Playfair Display"/>
                <a:cs typeface="Playfair Display"/>
                <a:sym typeface="Playfair Display"/>
              </a:rPr>
              <a:t>SMARTPHONE USAGE &amp; PRODUCTIVITY ANALYSIS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6021566" y="1558017"/>
            <a:ext cx="5994124" cy="1773322"/>
            <a:chOff x="0" y="0"/>
            <a:chExt cx="2747400" cy="812800"/>
          </a:xfrm>
        </p:grpSpPr>
        <p:sp>
          <p:nvSpPr>
            <p:cNvPr name="Freeform 7" id="7"/>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8" id="8"/>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163750" y="1700201"/>
            <a:ext cx="5994124" cy="1773322"/>
            <a:chOff x="0" y="0"/>
            <a:chExt cx="2747400" cy="812800"/>
          </a:xfrm>
        </p:grpSpPr>
        <p:sp>
          <p:nvSpPr>
            <p:cNvPr name="Freeform 10" id="10"/>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ln w="66675" cap="sq">
              <a:solidFill>
                <a:srgbClr val="56C3D0"/>
              </a:solidFill>
              <a:prstDash val="solid"/>
              <a:miter/>
            </a:ln>
          </p:spPr>
        </p:sp>
        <p:sp>
          <p:nvSpPr>
            <p:cNvPr name="TextBox 11" id="11"/>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4703316" y="3701454"/>
            <a:ext cx="9644009" cy="3854337"/>
          </a:xfrm>
          <a:prstGeom prst="rect">
            <a:avLst/>
          </a:prstGeom>
        </p:spPr>
        <p:txBody>
          <a:bodyPr anchor="t" rtlCol="false" tIns="0" lIns="0" bIns="0" rIns="0">
            <a:spAutoFit/>
          </a:bodyPr>
          <a:lstStyle/>
          <a:p>
            <a:pPr algn="l">
              <a:lnSpc>
                <a:spcPts val="4381"/>
              </a:lnSpc>
            </a:pPr>
            <a:r>
              <a:rPr lang="en-US" sz="3129">
                <a:solidFill>
                  <a:srgbClr val="000000"/>
                </a:solidFill>
                <a:latin typeface="DG Jory"/>
                <a:ea typeface="DG Jory"/>
                <a:cs typeface="DG Jory"/>
                <a:sym typeface="DG Jory"/>
              </a:rPr>
              <a:t>In today’s digital era, excessive smartphone usage may impact productivity, stress levels, and sleep quality.</a:t>
            </a:r>
          </a:p>
          <a:p>
            <a:pPr algn="l">
              <a:lnSpc>
                <a:spcPts val="4381"/>
              </a:lnSpc>
            </a:pPr>
          </a:p>
          <a:p>
            <a:pPr algn="l">
              <a:lnSpc>
                <a:spcPts val="4381"/>
              </a:lnSpc>
            </a:pPr>
            <a:r>
              <a:rPr lang="en-US" sz="3129">
                <a:solidFill>
                  <a:srgbClr val="000000"/>
                </a:solidFill>
                <a:latin typeface="DG Jory"/>
                <a:ea typeface="DG Jory"/>
                <a:cs typeface="DG Jory"/>
                <a:sym typeface="DG Jory"/>
              </a:rPr>
              <a:t> The objective of this project is to analyze smartphone usage patterns and understand how screen time affects work performance and mental well-being using Power BI.</a:t>
            </a:r>
          </a:p>
          <a:p>
            <a:pPr algn="l">
              <a:lnSpc>
                <a:spcPts val="4381"/>
              </a:lnSpc>
            </a:pPr>
          </a:p>
        </p:txBody>
      </p:sp>
      <p:sp>
        <p:nvSpPr>
          <p:cNvPr name="TextBox 13" id="13"/>
          <p:cNvSpPr txBox="true"/>
          <p:nvPr/>
        </p:nvSpPr>
        <p:spPr>
          <a:xfrm rot="0">
            <a:off x="5803537" y="2060854"/>
            <a:ext cx="6830015" cy="2143125"/>
          </a:xfrm>
          <a:prstGeom prst="rect">
            <a:avLst/>
          </a:prstGeom>
        </p:spPr>
        <p:txBody>
          <a:bodyPr anchor="t" rtlCol="false" tIns="0" lIns="0" bIns="0" rIns="0">
            <a:spAutoFit/>
          </a:bodyPr>
          <a:lstStyle/>
          <a:p>
            <a:pPr algn="ctr">
              <a:lnSpc>
                <a:spcPts val="5437"/>
              </a:lnSpc>
            </a:pPr>
            <a:r>
              <a:rPr lang="en-US" sz="4530">
                <a:solidFill>
                  <a:srgbClr val="000000"/>
                </a:solidFill>
                <a:latin typeface="League Spartan"/>
                <a:ea typeface="League Spartan"/>
                <a:cs typeface="League Spartan"/>
                <a:sym typeface="League Spartan"/>
              </a:rPr>
              <a:t>PROBLEM STATEMENT</a:t>
            </a:r>
          </a:p>
          <a:p>
            <a:pPr algn="ctr">
              <a:lnSpc>
                <a:spcPts val="5917"/>
              </a:lnSpc>
            </a:pPr>
          </a:p>
          <a:p>
            <a:pPr algn="ctr">
              <a:lnSpc>
                <a:spcPts val="5557"/>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3082137" y="-495020"/>
            <a:ext cx="9287959" cy="8409825"/>
          </a:xfrm>
          <a:custGeom>
            <a:avLst/>
            <a:gdLst/>
            <a:ahLst/>
            <a:cxnLst/>
            <a:rect r="r" b="b" t="t" l="l"/>
            <a:pathLst>
              <a:path h="8409825" w="9287959">
                <a:moveTo>
                  <a:pt x="9287960" y="8409824"/>
                </a:moveTo>
                <a:lnTo>
                  <a:pt x="0" y="8409824"/>
                </a:lnTo>
                <a:lnTo>
                  <a:pt x="0" y="0"/>
                </a:lnTo>
                <a:lnTo>
                  <a:pt x="9287960" y="0"/>
                </a:lnTo>
                <a:lnTo>
                  <a:pt x="9287960" y="84098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07933" y="8049787"/>
            <a:ext cx="7360133" cy="6664266"/>
          </a:xfrm>
          <a:custGeom>
            <a:avLst/>
            <a:gdLst/>
            <a:ahLst/>
            <a:cxnLst/>
            <a:rect r="r" b="b" t="t" l="l"/>
            <a:pathLst>
              <a:path h="6664266" w="7360133">
                <a:moveTo>
                  <a:pt x="0" y="0"/>
                </a:moveTo>
                <a:lnTo>
                  <a:pt x="7360134" y="0"/>
                </a:lnTo>
                <a:lnTo>
                  <a:pt x="7360134" y="6664267"/>
                </a:lnTo>
                <a:lnTo>
                  <a:pt x="0" y="6664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true" flipV="false" rot="0">
            <a:off x="8303269" y="8738243"/>
            <a:ext cx="7360133" cy="6664266"/>
          </a:xfrm>
          <a:custGeom>
            <a:avLst/>
            <a:gdLst/>
            <a:ahLst/>
            <a:cxnLst/>
            <a:rect r="r" b="b" t="t" l="l"/>
            <a:pathLst>
              <a:path h="6664266" w="7360133">
                <a:moveTo>
                  <a:pt x="7360133" y="0"/>
                </a:moveTo>
                <a:lnTo>
                  <a:pt x="0" y="0"/>
                </a:lnTo>
                <a:lnTo>
                  <a:pt x="0" y="6664266"/>
                </a:lnTo>
                <a:lnTo>
                  <a:pt x="7360133" y="6664266"/>
                </a:lnTo>
                <a:lnTo>
                  <a:pt x="736013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5" id="5"/>
          <p:cNvGrpSpPr/>
          <p:nvPr/>
        </p:nvGrpSpPr>
        <p:grpSpPr>
          <a:xfrm rot="0">
            <a:off x="1028700" y="1028700"/>
            <a:ext cx="5994124" cy="1773322"/>
            <a:chOff x="0" y="0"/>
            <a:chExt cx="2747400" cy="812800"/>
          </a:xfrm>
        </p:grpSpPr>
        <p:sp>
          <p:nvSpPr>
            <p:cNvPr name="Freeform 6" id="6"/>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7" id="7"/>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170884" y="1170884"/>
            <a:ext cx="5994124" cy="1773322"/>
            <a:chOff x="0" y="0"/>
            <a:chExt cx="2747400" cy="812800"/>
          </a:xfrm>
        </p:grpSpPr>
        <p:sp>
          <p:nvSpPr>
            <p:cNvPr name="Freeform 9" id="9"/>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ln w="66675" cap="sq">
              <a:solidFill>
                <a:srgbClr val="56C3D0"/>
              </a:solidFill>
              <a:prstDash val="solid"/>
              <a:miter/>
            </a:ln>
          </p:spPr>
        </p:sp>
        <p:sp>
          <p:nvSpPr>
            <p:cNvPr name="TextBox 10" id="10"/>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28700" y="3209939"/>
            <a:ext cx="4882567" cy="851368"/>
            <a:chOff x="0" y="0"/>
            <a:chExt cx="1285944" cy="224229"/>
          </a:xfrm>
        </p:grpSpPr>
        <p:sp>
          <p:nvSpPr>
            <p:cNvPr name="Freeform 12" id="12"/>
            <p:cNvSpPr/>
            <p:nvPr/>
          </p:nvSpPr>
          <p:spPr>
            <a:xfrm flipH="false" flipV="false" rot="0">
              <a:off x="0" y="0"/>
              <a:ext cx="1285944" cy="224229"/>
            </a:xfrm>
            <a:custGeom>
              <a:avLst/>
              <a:gdLst/>
              <a:ahLst/>
              <a:cxnLst/>
              <a:rect r="r" b="b" t="t" l="l"/>
              <a:pathLst>
                <a:path h="224229" w="1285944">
                  <a:moveTo>
                    <a:pt x="0" y="0"/>
                  </a:moveTo>
                  <a:lnTo>
                    <a:pt x="1285944" y="0"/>
                  </a:lnTo>
                  <a:lnTo>
                    <a:pt x="1285944" y="224229"/>
                  </a:lnTo>
                  <a:lnTo>
                    <a:pt x="0" y="224229"/>
                  </a:lnTo>
                  <a:close/>
                </a:path>
              </a:pathLst>
            </a:custGeom>
            <a:solidFill>
              <a:srgbClr val="9BDAE9">
                <a:alpha val="49804"/>
              </a:srgbClr>
            </a:solidFill>
          </p:spPr>
        </p:sp>
        <p:sp>
          <p:nvSpPr>
            <p:cNvPr name="TextBox 13" id="13"/>
            <p:cNvSpPr txBox="true"/>
            <p:nvPr/>
          </p:nvSpPr>
          <p:spPr>
            <a:xfrm>
              <a:off x="0" y="-47625"/>
              <a:ext cx="1285944" cy="271854"/>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6101149" y="2877531"/>
            <a:ext cx="11764373" cy="7721487"/>
          </a:xfrm>
          <a:prstGeom prst="rect">
            <a:avLst/>
          </a:prstGeom>
        </p:spPr>
        <p:txBody>
          <a:bodyPr anchor="t" rtlCol="false" tIns="0" lIns="0" bIns="0" rIns="0">
            <a:spAutoFit/>
          </a:bodyPr>
          <a:lstStyle/>
          <a:p>
            <a:pPr algn="l" marL="675648" indent="-337824" lvl="1">
              <a:lnSpc>
                <a:spcPts val="4381"/>
              </a:lnSpc>
              <a:buFont typeface="Arial"/>
              <a:buChar char="•"/>
            </a:pPr>
            <a:r>
              <a:rPr lang="en-US" sz="3129">
                <a:solidFill>
                  <a:srgbClr val="000000"/>
                </a:solidFill>
                <a:latin typeface="DG Jory"/>
                <a:ea typeface="DG Jory"/>
                <a:cs typeface="DG Jory"/>
                <a:sym typeface="DG Jory"/>
              </a:rPr>
              <a:t>T</a:t>
            </a:r>
            <a:r>
              <a:rPr lang="en-US" sz="3129">
                <a:solidFill>
                  <a:srgbClr val="000000"/>
                </a:solidFill>
                <a:latin typeface="DG Jory"/>
                <a:ea typeface="DG Jory"/>
                <a:cs typeface="DG Jory"/>
                <a:sym typeface="DG Jory"/>
              </a:rPr>
              <a:t>otal Records: 50,000 users</a:t>
            </a:r>
          </a:p>
          <a:p>
            <a:pPr algn="l" marL="675648" indent="-337824" lvl="1">
              <a:lnSpc>
                <a:spcPts val="4381"/>
              </a:lnSpc>
              <a:buFont typeface="Arial"/>
              <a:buChar char="•"/>
            </a:pPr>
            <a:r>
              <a:rPr lang="en-US" sz="3129">
                <a:solidFill>
                  <a:srgbClr val="000000"/>
                </a:solidFill>
                <a:latin typeface="DG Jory"/>
                <a:ea typeface="DG Jory"/>
                <a:cs typeface="DG Jory"/>
                <a:sym typeface="DG Jory"/>
              </a:rPr>
              <a:t>Attributes:</a:t>
            </a:r>
          </a:p>
          <a:p>
            <a:pPr algn="l" marL="1351297" indent="-450432" lvl="2">
              <a:lnSpc>
                <a:spcPts val="4381"/>
              </a:lnSpc>
              <a:buFont typeface="Arial"/>
              <a:buChar char="⚬"/>
            </a:pPr>
            <a:r>
              <a:rPr lang="en-US" sz="3129">
                <a:solidFill>
                  <a:srgbClr val="000000"/>
                </a:solidFill>
                <a:latin typeface="DG Jory"/>
                <a:ea typeface="DG Jory"/>
                <a:cs typeface="DG Jory"/>
                <a:sym typeface="DG Jory"/>
              </a:rPr>
              <a:t>Age</a:t>
            </a:r>
          </a:p>
          <a:p>
            <a:pPr algn="l" marL="1351297" indent="-450432" lvl="2">
              <a:lnSpc>
                <a:spcPts val="4381"/>
              </a:lnSpc>
              <a:buFont typeface="Arial"/>
              <a:buChar char="⚬"/>
            </a:pPr>
            <a:r>
              <a:rPr lang="en-US" sz="3129">
                <a:solidFill>
                  <a:srgbClr val="000000"/>
                </a:solidFill>
                <a:latin typeface="DG Jory"/>
                <a:ea typeface="DG Jory"/>
                <a:cs typeface="DG Jory"/>
                <a:sym typeface="DG Jory"/>
              </a:rPr>
              <a:t>Gender</a:t>
            </a:r>
          </a:p>
          <a:p>
            <a:pPr algn="l" marL="1351297" indent="-450432" lvl="2">
              <a:lnSpc>
                <a:spcPts val="4381"/>
              </a:lnSpc>
              <a:buFont typeface="Arial"/>
              <a:buChar char="⚬"/>
            </a:pPr>
            <a:r>
              <a:rPr lang="en-US" sz="3129">
                <a:solidFill>
                  <a:srgbClr val="000000"/>
                </a:solidFill>
                <a:latin typeface="DG Jory"/>
                <a:ea typeface="DG Jory"/>
                <a:cs typeface="DG Jory"/>
                <a:sym typeface="DG Jory"/>
              </a:rPr>
              <a:t>Occupation</a:t>
            </a:r>
          </a:p>
          <a:p>
            <a:pPr algn="l" marL="1351297" indent="-450432" lvl="2">
              <a:lnSpc>
                <a:spcPts val="4381"/>
              </a:lnSpc>
              <a:buFont typeface="Arial"/>
              <a:buChar char="⚬"/>
            </a:pPr>
            <a:r>
              <a:rPr lang="en-US" sz="3129">
                <a:solidFill>
                  <a:srgbClr val="000000"/>
                </a:solidFill>
                <a:latin typeface="DG Jory"/>
                <a:ea typeface="DG Jory"/>
                <a:cs typeface="DG Jory"/>
                <a:sym typeface="DG Jory"/>
              </a:rPr>
              <a:t>Device Type</a:t>
            </a:r>
          </a:p>
          <a:p>
            <a:pPr algn="l" marL="1351297" indent="-450432" lvl="2">
              <a:lnSpc>
                <a:spcPts val="4381"/>
              </a:lnSpc>
              <a:buFont typeface="Arial"/>
              <a:buChar char="⚬"/>
            </a:pPr>
            <a:r>
              <a:rPr lang="en-US" sz="3129">
                <a:solidFill>
                  <a:srgbClr val="000000"/>
                </a:solidFill>
                <a:latin typeface="DG Jory"/>
                <a:ea typeface="DG Jory"/>
                <a:cs typeface="DG Jory"/>
                <a:sym typeface="DG Jory"/>
              </a:rPr>
              <a:t>Daily Phone Usage Hours</a:t>
            </a:r>
          </a:p>
          <a:p>
            <a:pPr algn="l" marL="1351297" indent="-450432" lvl="2">
              <a:lnSpc>
                <a:spcPts val="4381"/>
              </a:lnSpc>
              <a:buFont typeface="Arial"/>
              <a:buChar char="⚬"/>
            </a:pPr>
            <a:r>
              <a:rPr lang="en-US" sz="3129">
                <a:solidFill>
                  <a:srgbClr val="000000"/>
                </a:solidFill>
                <a:latin typeface="DG Jory"/>
                <a:ea typeface="DG Jory"/>
                <a:cs typeface="DG Jory"/>
                <a:sym typeface="DG Jory"/>
              </a:rPr>
              <a:t>Social Media Usage</a:t>
            </a:r>
          </a:p>
          <a:p>
            <a:pPr algn="l" marL="1351297" indent="-450432" lvl="2">
              <a:lnSpc>
                <a:spcPts val="4381"/>
              </a:lnSpc>
              <a:buFont typeface="Arial"/>
              <a:buChar char="⚬"/>
            </a:pPr>
            <a:r>
              <a:rPr lang="en-US" sz="3129">
                <a:solidFill>
                  <a:srgbClr val="000000"/>
                </a:solidFill>
                <a:latin typeface="DG Jory"/>
                <a:ea typeface="DG Jory"/>
                <a:cs typeface="DG Jory"/>
                <a:sym typeface="DG Jory"/>
              </a:rPr>
              <a:t>Sleep Hours</a:t>
            </a:r>
          </a:p>
          <a:p>
            <a:pPr algn="l" marL="1351297" indent="-450432" lvl="2">
              <a:lnSpc>
                <a:spcPts val="4381"/>
              </a:lnSpc>
              <a:buFont typeface="Arial"/>
              <a:buChar char="⚬"/>
            </a:pPr>
            <a:r>
              <a:rPr lang="en-US" sz="3129">
                <a:solidFill>
                  <a:srgbClr val="000000"/>
                </a:solidFill>
                <a:latin typeface="DG Jory"/>
                <a:ea typeface="DG Jory"/>
                <a:cs typeface="DG Jory"/>
                <a:sym typeface="DG Jory"/>
              </a:rPr>
              <a:t>Stress Level</a:t>
            </a:r>
          </a:p>
          <a:p>
            <a:pPr algn="l" marL="1351297" indent="-450432" lvl="2">
              <a:lnSpc>
                <a:spcPts val="4381"/>
              </a:lnSpc>
              <a:buFont typeface="Arial"/>
              <a:buChar char="⚬"/>
            </a:pPr>
            <a:r>
              <a:rPr lang="en-US" sz="3129">
                <a:solidFill>
                  <a:srgbClr val="000000"/>
                </a:solidFill>
                <a:latin typeface="DG Jory"/>
                <a:ea typeface="DG Jory"/>
                <a:cs typeface="DG Jory"/>
                <a:sym typeface="DG Jory"/>
              </a:rPr>
              <a:t>Work Productivity</a:t>
            </a:r>
          </a:p>
          <a:p>
            <a:pPr algn="l" marL="1351297" indent="-450432" lvl="2">
              <a:lnSpc>
                <a:spcPts val="4381"/>
              </a:lnSpc>
              <a:buFont typeface="Arial"/>
              <a:buChar char="⚬"/>
            </a:pPr>
            <a:r>
              <a:rPr lang="en-US" sz="3129">
                <a:solidFill>
                  <a:srgbClr val="000000"/>
                </a:solidFill>
                <a:latin typeface="DG Jory"/>
                <a:ea typeface="DG Jory"/>
                <a:cs typeface="DG Jory"/>
                <a:sym typeface="DG Jory"/>
              </a:rPr>
              <a:t>Weekend Screen Time</a:t>
            </a:r>
          </a:p>
          <a:p>
            <a:pPr algn="l">
              <a:lnSpc>
                <a:spcPts val="4381"/>
              </a:lnSpc>
            </a:pPr>
          </a:p>
          <a:p>
            <a:pPr algn="l">
              <a:lnSpc>
                <a:spcPts val="4381"/>
              </a:lnSpc>
            </a:pPr>
          </a:p>
        </p:txBody>
      </p:sp>
      <p:sp>
        <p:nvSpPr>
          <p:cNvPr name="TextBox 15" id="15"/>
          <p:cNvSpPr txBox="true"/>
          <p:nvPr/>
        </p:nvSpPr>
        <p:spPr>
          <a:xfrm rot="0">
            <a:off x="1099792" y="3376008"/>
            <a:ext cx="4740383" cy="537845"/>
          </a:xfrm>
          <a:prstGeom prst="rect">
            <a:avLst/>
          </a:prstGeom>
        </p:spPr>
        <p:txBody>
          <a:bodyPr anchor="t" rtlCol="false" tIns="0" lIns="0" bIns="0" rIns="0">
            <a:spAutoFit/>
          </a:bodyPr>
          <a:lstStyle/>
          <a:p>
            <a:pPr algn="ctr">
              <a:lnSpc>
                <a:spcPts val="4479"/>
              </a:lnSpc>
            </a:pPr>
            <a:r>
              <a:rPr lang="en-US" sz="3199">
                <a:solidFill>
                  <a:srgbClr val="000000"/>
                </a:solidFill>
                <a:latin typeface="League Spartan"/>
                <a:ea typeface="League Spartan"/>
                <a:cs typeface="League Spartan"/>
                <a:sym typeface="League Spartan"/>
              </a:rPr>
              <a:t>DATASET OVERVIEW</a:t>
            </a:r>
          </a:p>
        </p:txBody>
      </p:sp>
      <p:sp>
        <p:nvSpPr>
          <p:cNvPr name="TextBox 16" id="16"/>
          <p:cNvSpPr txBox="true"/>
          <p:nvPr/>
        </p:nvSpPr>
        <p:spPr>
          <a:xfrm rot="0">
            <a:off x="1028700" y="1170884"/>
            <a:ext cx="6027748" cy="1428750"/>
          </a:xfrm>
          <a:prstGeom prst="rect">
            <a:avLst/>
          </a:prstGeom>
        </p:spPr>
        <p:txBody>
          <a:bodyPr anchor="t" rtlCol="false" tIns="0" lIns="0" bIns="0" rIns="0">
            <a:spAutoFit/>
          </a:bodyPr>
          <a:lstStyle/>
          <a:p>
            <a:pPr algn="ctr">
              <a:lnSpc>
                <a:spcPts val="5677"/>
              </a:lnSpc>
            </a:pPr>
            <a:r>
              <a:rPr lang="en-US" sz="4730">
                <a:solidFill>
                  <a:srgbClr val="000000"/>
                </a:solidFill>
                <a:latin typeface="League Spartan"/>
                <a:ea typeface="League Spartan"/>
                <a:cs typeface="League Spartan"/>
                <a:sym typeface="League Spartan"/>
              </a:rPr>
              <a:t>DATASET DESCRIPTION</a:t>
            </a:r>
          </a:p>
        </p:txBody>
      </p:sp>
      <p:sp>
        <p:nvSpPr>
          <p:cNvPr name="TextBox 17" id="17"/>
          <p:cNvSpPr txBox="true"/>
          <p:nvPr/>
        </p:nvSpPr>
        <p:spPr>
          <a:xfrm rot="0">
            <a:off x="1028700" y="9201150"/>
            <a:ext cx="5189339" cy="976629"/>
          </a:xfrm>
          <a:prstGeom prst="rect">
            <a:avLst/>
          </a:prstGeom>
        </p:spPr>
        <p:txBody>
          <a:bodyPr anchor="t" rtlCol="false" tIns="0" lIns="0" bIns="0" rIns="0">
            <a:spAutoFit/>
          </a:bodyPr>
          <a:lstStyle/>
          <a:p>
            <a:pPr algn="ctr">
              <a:lnSpc>
                <a:spcPts val="3920"/>
              </a:lnSpc>
            </a:pPr>
            <a:r>
              <a:rPr lang="en-US" sz="2800" b="true">
                <a:solidFill>
                  <a:srgbClr val="000000"/>
                </a:solidFill>
                <a:latin typeface="Canva Sans Bold"/>
                <a:ea typeface="Canva Sans Bold"/>
                <a:cs typeface="Canva Sans Bold"/>
                <a:sym typeface="Canva Sans Bold"/>
              </a:rPr>
              <a:t>Tool</a:t>
            </a:r>
            <a:r>
              <a:rPr lang="en-US" b="true" sz="2800">
                <a:solidFill>
                  <a:srgbClr val="000000"/>
                </a:solidFill>
                <a:latin typeface="Canva Sans Bold"/>
                <a:ea typeface="Canva Sans Bold"/>
                <a:cs typeface="Canva Sans Bold"/>
                <a:sym typeface="Canva Sans Bold"/>
              </a:rPr>
              <a:t> Used: Microsoft Power BI</a:t>
            </a:r>
          </a:p>
          <a:p>
            <a:pPr algn="ctr">
              <a:lnSpc>
                <a:spcPts val="392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6021566" y="1558017"/>
            <a:ext cx="5994124" cy="1773322"/>
            <a:chOff x="0" y="0"/>
            <a:chExt cx="2747400" cy="812800"/>
          </a:xfrm>
        </p:grpSpPr>
        <p:sp>
          <p:nvSpPr>
            <p:cNvPr name="Freeform 7" id="7"/>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8" id="8"/>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163750" y="1700201"/>
            <a:ext cx="5994124" cy="1773322"/>
            <a:chOff x="0" y="0"/>
            <a:chExt cx="2747400" cy="812800"/>
          </a:xfrm>
        </p:grpSpPr>
        <p:sp>
          <p:nvSpPr>
            <p:cNvPr name="Freeform 10" id="10"/>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ln w="66675" cap="sq">
              <a:solidFill>
                <a:srgbClr val="56C3D0"/>
              </a:solidFill>
              <a:prstDash val="solid"/>
              <a:miter/>
            </a:ln>
          </p:spPr>
        </p:sp>
        <p:sp>
          <p:nvSpPr>
            <p:cNvPr name="TextBox 11" id="11"/>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3812151" y="3331339"/>
            <a:ext cx="10730945" cy="6505636"/>
          </a:xfrm>
          <a:custGeom>
            <a:avLst/>
            <a:gdLst/>
            <a:ahLst/>
            <a:cxnLst/>
            <a:rect r="r" b="b" t="t" l="l"/>
            <a:pathLst>
              <a:path h="6505636" w="10730945">
                <a:moveTo>
                  <a:pt x="0" y="0"/>
                </a:moveTo>
                <a:lnTo>
                  <a:pt x="10730945" y="0"/>
                </a:lnTo>
                <a:lnTo>
                  <a:pt x="10730945" y="6505635"/>
                </a:lnTo>
                <a:lnTo>
                  <a:pt x="0" y="6505635"/>
                </a:lnTo>
                <a:lnTo>
                  <a:pt x="0" y="0"/>
                </a:lnTo>
                <a:close/>
              </a:path>
            </a:pathLst>
          </a:custGeom>
          <a:blipFill>
            <a:blip r:embed="rId4"/>
            <a:stretch>
              <a:fillRect l="0" t="0" r="0" b="0"/>
            </a:stretch>
          </a:blipFill>
        </p:spPr>
      </p:sp>
      <p:sp>
        <p:nvSpPr>
          <p:cNvPr name="TextBox 13" id="13"/>
          <p:cNvSpPr txBox="true"/>
          <p:nvPr/>
        </p:nvSpPr>
        <p:spPr>
          <a:xfrm rot="0">
            <a:off x="6163750" y="1768403"/>
            <a:ext cx="6027748" cy="1343025"/>
          </a:xfrm>
          <a:prstGeom prst="rect">
            <a:avLst/>
          </a:prstGeom>
        </p:spPr>
        <p:txBody>
          <a:bodyPr anchor="t" rtlCol="false" tIns="0" lIns="0" bIns="0" rIns="0">
            <a:spAutoFit/>
          </a:bodyPr>
          <a:lstStyle/>
          <a:p>
            <a:pPr algn="ctr">
              <a:lnSpc>
                <a:spcPts val="5317"/>
              </a:lnSpc>
            </a:pPr>
            <a:r>
              <a:rPr lang="en-US" sz="4430">
                <a:solidFill>
                  <a:srgbClr val="000000"/>
                </a:solidFill>
                <a:latin typeface="League Spartan"/>
                <a:ea typeface="League Spartan"/>
                <a:cs typeface="League Spartan"/>
                <a:sym typeface="League Spartan"/>
              </a:rPr>
              <a:t>DASHBOARD OVERVIEW</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3829156" y="3521147"/>
            <a:ext cx="6426000" cy="812166"/>
          </a:xfrm>
          <a:prstGeom prst="rect">
            <a:avLst/>
          </a:prstGeom>
        </p:spPr>
        <p:txBody>
          <a:bodyPr anchor="t" rtlCol="false" tIns="0" lIns="0" bIns="0" rIns="0">
            <a:spAutoFit/>
          </a:bodyPr>
          <a:lstStyle/>
          <a:p>
            <a:pPr algn="ctr">
              <a:lnSpc>
                <a:spcPts val="3100"/>
              </a:lnSpc>
            </a:pPr>
            <a:r>
              <a:rPr lang="en-US" sz="3100">
                <a:solidFill>
                  <a:srgbClr val="000000"/>
                </a:solidFill>
                <a:latin typeface="League Spartan"/>
                <a:ea typeface="League Spartan"/>
                <a:cs typeface="League Spartan"/>
                <a:sym typeface="League Spartan"/>
              </a:rPr>
              <a:t>DASHBOARD INCLUDES:</a:t>
            </a:r>
          </a:p>
          <a:p>
            <a:pPr algn="ctr">
              <a:lnSpc>
                <a:spcPts val="3100"/>
              </a:lnSpc>
            </a:pPr>
          </a:p>
        </p:txBody>
      </p:sp>
      <p:grpSp>
        <p:nvGrpSpPr>
          <p:cNvPr name="Group 7" id="7"/>
          <p:cNvGrpSpPr/>
          <p:nvPr/>
        </p:nvGrpSpPr>
        <p:grpSpPr>
          <a:xfrm rot="0">
            <a:off x="6021566" y="1558017"/>
            <a:ext cx="5994124" cy="1773322"/>
            <a:chOff x="0" y="0"/>
            <a:chExt cx="2747400" cy="812800"/>
          </a:xfrm>
        </p:grpSpPr>
        <p:sp>
          <p:nvSpPr>
            <p:cNvPr name="Freeform 8" id="8"/>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9" id="9"/>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6163750" y="1700201"/>
            <a:ext cx="5994124" cy="1773322"/>
            <a:chOff x="0" y="0"/>
            <a:chExt cx="2747400" cy="812800"/>
          </a:xfrm>
        </p:grpSpPr>
        <p:sp>
          <p:nvSpPr>
            <p:cNvPr name="Freeform 11" id="11"/>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ln w="66675" cap="sq">
              <a:solidFill>
                <a:srgbClr val="56C3D0"/>
              </a:solidFill>
              <a:prstDash val="solid"/>
              <a:miter/>
            </a:ln>
          </p:spPr>
        </p:sp>
        <p:sp>
          <p:nvSpPr>
            <p:cNvPr name="TextBox 12" id="12"/>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5987942" y="1690676"/>
            <a:ext cx="6027748" cy="1343025"/>
          </a:xfrm>
          <a:prstGeom prst="rect">
            <a:avLst/>
          </a:prstGeom>
        </p:spPr>
        <p:txBody>
          <a:bodyPr anchor="t" rtlCol="false" tIns="0" lIns="0" bIns="0" rIns="0">
            <a:spAutoFit/>
          </a:bodyPr>
          <a:lstStyle/>
          <a:p>
            <a:pPr algn="ctr">
              <a:lnSpc>
                <a:spcPts val="5317"/>
              </a:lnSpc>
            </a:pPr>
            <a:r>
              <a:rPr lang="en-US" sz="4430">
                <a:solidFill>
                  <a:srgbClr val="000000"/>
                </a:solidFill>
                <a:latin typeface="League Spartan"/>
                <a:ea typeface="League Spartan"/>
                <a:cs typeface="League Spartan"/>
                <a:sym typeface="League Spartan"/>
              </a:rPr>
              <a:t>DASHBOARD OVERVIEW</a:t>
            </a:r>
          </a:p>
        </p:txBody>
      </p:sp>
      <p:sp>
        <p:nvSpPr>
          <p:cNvPr name="TextBox 14" id="14"/>
          <p:cNvSpPr txBox="true"/>
          <p:nvPr/>
        </p:nvSpPr>
        <p:spPr>
          <a:xfrm rot="0">
            <a:off x="5056199" y="4704788"/>
            <a:ext cx="9205912" cy="4780915"/>
          </a:xfrm>
          <a:prstGeom prst="rect">
            <a:avLst/>
          </a:prstGeom>
        </p:spPr>
        <p:txBody>
          <a:bodyPr anchor="t" rtlCol="false" tIns="0" lIns="0" bIns="0" rIns="0">
            <a:spAutoFit/>
          </a:bodyPr>
          <a:lstStyle/>
          <a:p>
            <a:pPr algn="ctr" marL="734059" indent="-367030" lvl="1">
              <a:lnSpc>
                <a:spcPts val="4759"/>
              </a:lnSpc>
              <a:buFont typeface="Arial"/>
              <a:buChar char="•"/>
            </a:pPr>
            <a:r>
              <a:rPr lang="en-US" sz="3399">
                <a:solidFill>
                  <a:srgbClr val="000000"/>
                </a:solidFill>
                <a:latin typeface="Canva Sans"/>
                <a:ea typeface="Canva Sans"/>
                <a:cs typeface="Canva Sans"/>
                <a:sym typeface="Canva Sans"/>
              </a:rPr>
              <a:t>KPI Car</a:t>
            </a:r>
            <a:r>
              <a:rPr lang="en-US" sz="3399">
                <a:solidFill>
                  <a:srgbClr val="000000"/>
                </a:solidFill>
                <a:latin typeface="Canva Sans"/>
                <a:ea typeface="Canva Sans"/>
                <a:cs typeface="Canva Sans"/>
                <a:sym typeface="Canva Sans"/>
              </a:rPr>
              <a:t>ds (Total Users, Avg Phone Usage)</a:t>
            </a:r>
          </a:p>
          <a:p>
            <a:pPr algn="ctr" marL="734059" indent="-367030" lvl="1">
              <a:lnSpc>
                <a:spcPts val="4759"/>
              </a:lnSpc>
              <a:buFont typeface="Arial"/>
              <a:buChar char="•"/>
            </a:pPr>
            <a:r>
              <a:rPr lang="en-US" sz="3399">
                <a:solidFill>
                  <a:srgbClr val="000000"/>
                </a:solidFill>
                <a:latin typeface="Canva Sans"/>
                <a:ea typeface="Canva Sans"/>
                <a:cs typeface="Canva Sans"/>
                <a:sym typeface="Canva Sans"/>
              </a:rPr>
              <a:t>Device Type Distribution</a:t>
            </a:r>
          </a:p>
          <a:p>
            <a:pPr algn="ctr" marL="734059" indent="-367030" lvl="1">
              <a:lnSpc>
                <a:spcPts val="4759"/>
              </a:lnSpc>
              <a:buFont typeface="Arial"/>
              <a:buChar char="•"/>
            </a:pPr>
            <a:r>
              <a:rPr lang="en-US" sz="3399">
                <a:solidFill>
                  <a:srgbClr val="000000"/>
                </a:solidFill>
                <a:latin typeface="Canva Sans"/>
                <a:ea typeface="Canva Sans"/>
                <a:cs typeface="Canva Sans"/>
                <a:sym typeface="Canva Sans"/>
              </a:rPr>
              <a:t>Occupation vs Phone Usage</a:t>
            </a:r>
          </a:p>
          <a:p>
            <a:pPr algn="ctr" marL="734059" indent="-367030" lvl="1">
              <a:lnSpc>
                <a:spcPts val="4759"/>
              </a:lnSpc>
              <a:buFont typeface="Arial"/>
              <a:buChar char="•"/>
            </a:pPr>
            <a:r>
              <a:rPr lang="en-US" sz="3399">
                <a:solidFill>
                  <a:srgbClr val="000000"/>
                </a:solidFill>
                <a:latin typeface="Canva Sans"/>
                <a:ea typeface="Canva Sans"/>
                <a:cs typeface="Canva Sans"/>
                <a:sym typeface="Canva Sans"/>
              </a:rPr>
              <a:t>Phone Usage vs Productivity</a:t>
            </a:r>
          </a:p>
          <a:p>
            <a:pPr algn="ctr" marL="734059" indent="-367030" lvl="1">
              <a:lnSpc>
                <a:spcPts val="4759"/>
              </a:lnSpc>
              <a:buFont typeface="Arial"/>
              <a:buChar char="•"/>
            </a:pPr>
            <a:r>
              <a:rPr lang="en-US" sz="3399">
                <a:solidFill>
                  <a:srgbClr val="000000"/>
                </a:solidFill>
                <a:latin typeface="Canva Sans"/>
                <a:ea typeface="Canva Sans"/>
                <a:cs typeface="Canva Sans"/>
                <a:sym typeface="Canva Sans"/>
              </a:rPr>
              <a:t>Sleep vs Stress Analysis</a:t>
            </a:r>
          </a:p>
          <a:p>
            <a:pPr algn="ctr" marL="734059" indent="-367030" lvl="1">
              <a:lnSpc>
                <a:spcPts val="4759"/>
              </a:lnSpc>
              <a:buFont typeface="Arial"/>
              <a:buChar char="•"/>
            </a:pPr>
            <a:r>
              <a:rPr lang="en-US" sz="3399">
                <a:solidFill>
                  <a:srgbClr val="000000"/>
                </a:solidFill>
                <a:latin typeface="Canva Sans"/>
                <a:ea typeface="Canva Sans"/>
                <a:cs typeface="Canva Sans"/>
                <a:sym typeface="Canva Sans"/>
              </a:rPr>
              <a:t>Weekend vs Weekday Comparison</a:t>
            </a:r>
          </a:p>
          <a:p>
            <a:pPr algn="ctr" marL="734059" indent="-367030" lvl="1">
              <a:lnSpc>
                <a:spcPts val="4759"/>
              </a:lnSpc>
              <a:buFont typeface="Arial"/>
              <a:buChar char="•"/>
            </a:pPr>
            <a:r>
              <a:rPr lang="en-US" sz="3399">
                <a:solidFill>
                  <a:srgbClr val="000000"/>
                </a:solidFill>
                <a:latin typeface="Canva Sans"/>
                <a:ea typeface="Canva Sans"/>
                <a:cs typeface="Canva Sans"/>
                <a:sym typeface="Canva Sans"/>
              </a:rPr>
              <a:t>Interactive Filters (Slicers)</a:t>
            </a:r>
          </a:p>
          <a:p>
            <a:pPr algn="ctr">
              <a:lnSpc>
                <a:spcPts val="475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3082137" y="-495020"/>
            <a:ext cx="9287959" cy="8409825"/>
          </a:xfrm>
          <a:custGeom>
            <a:avLst/>
            <a:gdLst/>
            <a:ahLst/>
            <a:cxnLst/>
            <a:rect r="r" b="b" t="t" l="l"/>
            <a:pathLst>
              <a:path h="8409825" w="9287959">
                <a:moveTo>
                  <a:pt x="9287960" y="8409824"/>
                </a:moveTo>
                <a:lnTo>
                  <a:pt x="0" y="8409824"/>
                </a:lnTo>
                <a:lnTo>
                  <a:pt x="0" y="0"/>
                </a:lnTo>
                <a:lnTo>
                  <a:pt x="9287960" y="0"/>
                </a:lnTo>
                <a:lnTo>
                  <a:pt x="9287960" y="84098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07933" y="8049787"/>
            <a:ext cx="7360133" cy="6664266"/>
          </a:xfrm>
          <a:custGeom>
            <a:avLst/>
            <a:gdLst/>
            <a:ahLst/>
            <a:cxnLst/>
            <a:rect r="r" b="b" t="t" l="l"/>
            <a:pathLst>
              <a:path h="6664266" w="7360133">
                <a:moveTo>
                  <a:pt x="0" y="0"/>
                </a:moveTo>
                <a:lnTo>
                  <a:pt x="7360134" y="0"/>
                </a:lnTo>
                <a:lnTo>
                  <a:pt x="7360134" y="6664267"/>
                </a:lnTo>
                <a:lnTo>
                  <a:pt x="0" y="6664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true" flipV="false" rot="0">
            <a:off x="8303269" y="8738243"/>
            <a:ext cx="7360133" cy="6664266"/>
          </a:xfrm>
          <a:custGeom>
            <a:avLst/>
            <a:gdLst/>
            <a:ahLst/>
            <a:cxnLst/>
            <a:rect r="r" b="b" t="t" l="l"/>
            <a:pathLst>
              <a:path h="6664266" w="7360133">
                <a:moveTo>
                  <a:pt x="7360133" y="0"/>
                </a:moveTo>
                <a:lnTo>
                  <a:pt x="0" y="0"/>
                </a:lnTo>
                <a:lnTo>
                  <a:pt x="0" y="6664266"/>
                </a:lnTo>
                <a:lnTo>
                  <a:pt x="7360133" y="6664266"/>
                </a:lnTo>
                <a:lnTo>
                  <a:pt x="736013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5" id="5"/>
          <p:cNvSpPr txBox="true"/>
          <p:nvPr/>
        </p:nvSpPr>
        <p:spPr>
          <a:xfrm rot="0">
            <a:off x="1028700" y="3917971"/>
            <a:ext cx="10964915" cy="4406787"/>
          </a:xfrm>
          <a:prstGeom prst="rect">
            <a:avLst/>
          </a:prstGeom>
        </p:spPr>
        <p:txBody>
          <a:bodyPr anchor="t" rtlCol="false" tIns="0" lIns="0" bIns="0" rIns="0">
            <a:spAutoFit/>
          </a:bodyPr>
          <a:lstStyle/>
          <a:p>
            <a:pPr algn="l" marL="675648" indent="-337824" lvl="1">
              <a:lnSpc>
                <a:spcPts val="4381"/>
              </a:lnSpc>
              <a:buFont typeface="Arial"/>
              <a:buChar char="•"/>
            </a:pPr>
            <a:r>
              <a:rPr lang="en-US" sz="3129">
                <a:solidFill>
                  <a:srgbClr val="000000"/>
                </a:solidFill>
                <a:latin typeface="DG Jory"/>
                <a:ea typeface="DG Jory"/>
                <a:cs typeface="DG Jory"/>
                <a:sym typeface="DG Jory"/>
              </a:rPr>
              <a:t>Ave</a:t>
            </a:r>
            <a:r>
              <a:rPr lang="en-US" sz="3129">
                <a:solidFill>
                  <a:srgbClr val="000000"/>
                </a:solidFill>
                <a:latin typeface="DG Jory"/>
                <a:ea typeface="DG Jory"/>
                <a:cs typeface="DG Jory"/>
                <a:sym typeface="DG Jory"/>
              </a:rPr>
              <a:t>rage daily smartphone usage is approximately 6–7 hours.</a:t>
            </a:r>
          </a:p>
          <a:p>
            <a:pPr algn="l" marL="675648" indent="-337824" lvl="1">
              <a:lnSpc>
                <a:spcPts val="4381"/>
              </a:lnSpc>
              <a:buFont typeface="Arial"/>
              <a:buChar char="•"/>
            </a:pPr>
            <a:r>
              <a:rPr lang="en-US" sz="3129">
                <a:solidFill>
                  <a:srgbClr val="000000"/>
                </a:solidFill>
                <a:latin typeface="DG Jory"/>
                <a:ea typeface="DG Jory"/>
                <a:cs typeface="DG Jory"/>
                <a:sym typeface="DG Jory"/>
              </a:rPr>
              <a:t>Weekend screen time is higher than weekday usage.</a:t>
            </a:r>
          </a:p>
          <a:p>
            <a:pPr algn="l" marL="675648" indent="-337824" lvl="1">
              <a:lnSpc>
                <a:spcPts val="4381"/>
              </a:lnSpc>
              <a:buFont typeface="Arial"/>
              <a:buChar char="•"/>
            </a:pPr>
            <a:r>
              <a:rPr lang="en-US" sz="3129">
                <a:solidFill>
                  <a:srgbClr val="000000"/>
                </a:solidFill>
                <a:latin typeface="DG Jory"/>
                <a:ea typeface="DG Jory"/>
                <a:cs typeface="DG Jory"/>
                <a:sym typeface="DG Jory"/>
              </a:rPr>
              <a:t>Higher phone usage shows a slight negative impact on work productivity.</a:t>
            </a:r>
          </a:p>
          <a:p>
            <a:pPr algn="l" marL="675648" indent="-337824" lvl="1">
              <a:lnSpc>
                <a:spcPts val="4381"/>
              </a:lnSpc>
              <a:buFont typeface="Arial"/>
              <a:buChar char="•"/>
            </a:pPr>
            <a:r>
              <a:rPr lang="en-US" sz="3129">
                <a:solidFill>
                  <a:srgbClr val="000000"/>
                </a:solidFill>
                <a:latin typeface="DG Jory"/>
                <a:ea typeface="DG Jory"/>
                <a:cs typeface="DG Jory"/>
                <a:sym typeface="DG Jory"/>
              </a:rPr>
              <a:t>Lower sleep hours are associated with hiher stress levels.</a:t>
            </a:r>
          </a:p>
          <a:p>
            <a:pPr algn="l" marL="675648" indent="-337824" lvl="1">
              <a:lnSpc>
                <a:spcPts val="4381"/>
              </a:lnSpc>
              <a:buFont typeface="Arial"/>
              <a:buChar char="•"/>
            </a:pPr>
            <a:r>
              <a:rPr lang="en-US" sz="3129">
                <a:solidFill>
                  <a:srgbClr val="000000"/>
                </a:solidFill>
                <a:latin typeface="DG Jory"/>
                <a:ea typeface="DG Jory"/>
                <a:cs typeface="DG Jory"/>
                <a:sym typeface="DG Jory"/>
              </a:rPr>
              <a:t>Students and freelancers show higher phone usage compared to other occupations.</a:t>
            </a:r>
          </a:p>
          <a:p>
            <a:pPr algn="l">
              <a:lnSpc>
                <a:spcPts val="4381"/>
              </a:lnSpc>
            </a:pPr>
          </a:p>
        </p:txBody>
      </p:sp>
      <p:grpSp>
        <p:nvGrpSpPr>
          <p:cNvPr name="Group 6" id="6"/>
          <p:cNvGrpSpPr/>
          <p:nvPr/>
        </p:nvGrpSpPr>
        <p:grpSpPr>
          <a:xfrm rot="0">
            <a:off x="1202807" y="1621421"/>
            <a:ext cx="5994124" cy="1773322"/>
            <a:chOff x="0" y="0"/>
            <a:chExt cx="2747400" cy="812800"/>
          </a:xfrm>
        </p:grpSpPr>
        <p:sp>
          <p:nvSpPr>
            <p:cNvPr name="Freeform 7" id="7"/>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8" id="8"/>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344991" y="1763605"/>
            <a:ext cx="5994124" cy="1773322"/>
            <a:chOff x="0" y="0"/>
            <a:chExt cx="2747400" cy="812800"/>
          </a:xfrm>
        </p:grpSpPr>
        <p:sp>
          <p:nvSpPr>
            <p:cNvPr name="Freeform 10" id="10"/>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ln w="66675" cap="sq">
              <a:solidFill>
                <a:srgbClr val="56C3D0"/>
              </a:solidFill>
              <a:prstDash val="solid"/>
              <a:miter/>
            </a:ln>
          </p:spPr>
        </p:sp>
        <p:sp>
          <p:nvSpPr>
            <p:cNvPr name="TextBox 11" id="11"/>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11367" y="2133783"/>
            <a:ext cx="6027748" cy="2245842"/>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KEY INSIGHTS</a:t>
            </a:r>
          </a:p>
          <a:p>
            <a:pPr algn="ctr">
              <a:lnSpc>
                <a:spcPts val="5917"/>
              </a:lnSpc>
            </a:pPr>
          </a:p>
          <a:p>
            <a:pPr algn="ctr">
              <a:lnSpc>
                <a:spcPts val="5917"/>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4221981" y="3793248"/>
            <a:ext cx="10535041" cy="4406787"/>
          </a:xfrm>
          <a:prstGeom prst="rect">
            <a:avLst/>
          </a:prstGeom>
        </p:spPr>
        <p:txBody>
          <a:bodyPr anchor="t" rtlCol="false" tIns="0" lIns="0" bIns="0" rIns="0">
            <a:spAutoFit/>
          </a:bodyPr>
          <a:lstStyle/>
          <a:p>
            <a:pPr algn="ctr">
              <a:lnSpc>
                <a:spcPts val="4381"/>
              </a:lnSpc>
            </a:pPr>
            <a:r>
              <a:rPr lang="en-US" sz="3129">
                <a:solidFill>
                  <a:srgbClr val="000000"/>
                </a:solidFill>
                <a:latin typeface="DG Jory"/>
                <a:ea typeface="DG Jory"/>
                <a:cs typeface="DG Jory"/>
                <a:sym typeface="DG Jory"/>
              </a:rPr>
              <a:t>Lorem ipsum dolor sit amet, conseThis project demonstrates how smartphone usage patterns influence productivity, stress, and sleep behavior.</a:t>
            </a:r>
          </a:p>
          <a:p>
            <a:pPr algn="ctr">
              <a:lnSpc>
                <a:spcPts val="4381"/>
              </a:lnSpc>
            </a:pPr>
            <a:r>
              <a:rPr lang="en-US" sz="3129">
                <a:solidFill>
                  <a:srgbClr val="000000"/>
                </a:solidFill>
                <a:latin typeface="DG Jory"/>
                <a:ea typeface="DG Jory"/>
                <a:cs typeface="DG Jory"/>
                <a:sym typeface="DG Jory"/>
              </a:rPr>
              <a:t> Using Power BI, raw data was transformed into meaningful visual insights, enabling better understanding of digital lifestyle impactsctetur adipiscing elit. Quisque non elit mauris. Cras euismod, metus ac finibus finibus, felis dui suscipit purus, a maximus leo ligula at dolor. Morbi et malesuada purus.</a:t>
            </a:r>
          </a:p>
        </p:txBody>
      </p:sp>
      <p:grpSp>
        <p:nvGrpSpPr>
          <p:cNvPr name="Group 7" id="7"/>
          <p:cNvGrpSpPr/>
          <p:nvPr/>
        </p:nvGrpSpPr>
        <p:grpSpPr>
          <a:xfrm rot="0">
            <a:off x="6021566" y="1558017"/>
            <a:ext cx="5994124" cy="1773322"/>
            <a:chOff x="0" y="0"/>
            <a:chExt cx="2747400" cy="812800"/>
          </a:xfrm>
        </p:grpSpPr>
        <p:sp>
          <p:nvSpPr>
            <p:cNvPr name="Freeform 8" id="8"/>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9" id="9"/>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6163750" y="1700201"/>
            <a:ext cx="5994124" cy="1773322"/>
            <a:chOff x="0" y="0"/>
            <a:chExt cx="2747400" cy="812800"/>
          </a:xfrm>
        </p:grpSpPr>
        <p:sp>
          <p:nvSpPr>
            <p:cNvPr name="Freeform 11" id="11"/>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ln w="66675" cap="sq">
              <a:solidFill>
                <a:srgbClr val="56C3D0"/>
              </a:solidFill>
              <a:prstDash val="solid"/>
              <a:miter/>
            </a:ln>
          </p:spPr>
        </p:sp>
        <p:sp>
          <p:nvSpPr>
            <p:cNvPr name="TextBox 12" id="12"/>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6130126" y="2070379"/>
            <a:ext cx="6027748" cy="748614"/>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CONCLUSION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4751838" y="4153209"/>
            <a:ext cx="8784324" cy="1261363"/>
          </a:xfrm>
          <a:prstGeom prst="rect">
            <a:avLst/>
          </a:prstGeom>
        </p:spPr>
        <p:txBody>
          <a:bodyPr anchor="t" rtlCol="false" tIns="0" lIns="0" bIns="0" rIns="0">
            <a:spAutoFit/>
          </a:bodyPr>
          <a:lstStyle/>
          <a:p>
            <a:pPr algn="ctr" marL="0" indent="0" lvl="0">
              <a:lnSpc>
                <a:spcPts val="10012"/>
              </a:lnSpc>
              <a:spcBef>
                <a:spcPct val="0"/>
              </a:spcBef>
            </a:pPr>
            <a:r>
              <a:rPr lang="en-US" b="true" sz="8344" strike="noStrike" u="none">
                <a:solidFill>
                  <a:srgbClr val="000000"/>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DAHB1WG3x5M</dc:identifier>
  <dcterms:modified xsi:type="dcterms:W3CDTF">2011-08-01T06:04:30Z</dcterms:modified>
  <cp:revision>1</cp:revision>
  <dc:title>Blue and White Minimalist Project Presentation</dc:title>
</cp:coreProperties>
</file>